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61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This is a teaching companion for faculty: a free web toolkit that turns 'which test do I use?' anxiety into a guided, teachable moment. Everything today shows how you'd actually use it in front of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site as three doors off one homepage. Everything a student needs to go from a research question to a defensible analysis lives behind one of these three. You never have to leave to find a formula or a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landing page. Nothing to install, no login. The three big buttons across the top ARE the navigation — this is the whole map. Tell students: bookmark this, and start from whichever button matches the moment they're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map of what lives behind each door, early, so the rest of the talk has a home. The Learn hub's six guide groups are shown with their real counts. The Calculator hub holds 122 calculators across 13 categories; the Design hub collects the study-design guides — I've listed representative categories there. Orient students: pick a hub by the job, then a category within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feature students love. Instead of memorizing a decision tree, they answer plain-language questions about their data and the site names the test. Use it to make the reasoning visible: WHY a t-test and not a chi-square.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exact example live. A student is comparing mean HbA1c between a diet-only group and a diet-plus-drug group. Answer the questions on screen; the wizard lands on an independent-samples t-test and flags the normality assumption. Great moment to discuss when you'd switch to Mann–Whitney.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right after the t-test example — same two-group setup, but the outcome is a 5-point Likert item, which is ordinal, not continuous. The wizard steers away from a t-test to Mann–Whitney U. Great moment to stress: summarize Likert with median/IQR, not a mean, and note the paired (before/after) and 3+ group 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corrected map: the Likert Scales guide lives in the Learn hub, and there are four ways to reach it — browse Data Types directly, use the Learn hub's Guide Finder, follow a Related cross-link from Ordinal Data / Survey Research / PROMs, or just search 'Likert'. Stress the non-path: the 'Which Calculator Should I Use?' wizard only ends at calculators, and Study Designs is scoped to study types — neither reaches Learn guides.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2 is about framing before any number is crunched. Use these cards to teach the hierarchy of evidence and the trade-offs. A common exercise: give students an abstract and have them name the design and its main bias from these guides.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Study Designs door as a decision aid, not just reference. Read the question aloud, then reason down the right-hand column with the class: the outcome is rare and the exposure is in the past, which rules out a forward-looking cohort or an RCT (unethical here). Land on case-control, and name its signature payoff — the odds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3 is the reference shelf. Data &amp; graphs cover the vocabulary; appraisal and reference are what students open during a journal club. The critical-appraisal checklists are the piece educators tend to lean on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is one of six guide groups inside the Learn hub — five reference guides that support the rest of the site rather than run a calculation: a symbols glossary, downloadable critical-appraisal worksheets, and indexes of the site's interactive trade-off tools and live simulators, plus the external 'Stats with Crayons' series from Penn Dental Medicine. Point students here for the supporting material and worksheets.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reference as a lookup tool: from Learn, into Common Statistical Pitfalls, to the confidence-interval entry — two clicks. Then teach the classic pitfall on the right. Students almost always read a 95% CI as a probability about the true value; the guide states the correct frequentist meaning. End on the practical rule: a ratio CI crossing 1 isn't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journal-club moment. Students read a trial reporting HR 0.71. Walk the reference: is the CI clear of 1? Was the primary endpoint pre-specified? This is where the 'reading' door and the 'doing' door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journal-club appraisal tuned to the case-control design from the earlier example. The reported effect is an odds ratio. Walk the design-specific questions: were controls drawn from the same population that produced the cases, and was exposure ascertained identically in both arms? Recall bias is the signature threat — that's the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'so what for me' for faculty. Three low-prep ways to fold it in. The point: it removes the software barrier so class time goes to reasoning, not to wrestling with SPSS.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One URL, free, no login. Encourage them to open it right now on their phones and try the wizard once before the session ends. Invite feedback to the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open the floor. Leave this up during Q&amp;A — the link stays visible so people can start exploring while they think of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366F1">
                  <a:alpha val="20000"/>
                </a:srgbClr>
              </a:gs>
              <a:gs pos="60000">
                <a:srgbClr val="6366F1">
                  <a:alpha val="0"/>
                </a:srgbClr>
              </a:gs>
            </a:gsLst>
            <a:path path="circle">
              <a:fillToRect l="78000" r="22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66675"/>
          </a:xfrm>
          <a:prstGeom prst="rect">
            <a:avLst/>
          </a:prstGeom>
          <a:solidFill>
            <a:srgbClr val="011F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8250" y="1047750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571"/>
              </a:lnSpc>
              <a:buNone/>
            </a:pPr>
            <a:r>
              <a:rPr lang="en-US" sz="1650" b="1" kern="0" spc="264" dirty="0">
                <a:solidFill>
                  <a:srgbClr val="A5B4F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 GUIDE FOR FACULTY &amp; EDUCATORS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38250" y="1543050"/>
            <a:ext cx="8231373" cy="249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0500" i="1" kern="0" spc="-210" dirty="0">
                <a:solidFill>
                  <a:srgbClr val="F2F1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Biostat Toolkit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238250" y="4320480"/>
            <a:ext cx="7415087" cy="978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16"/>
              </a:lnSpc>
              <a:buNone/>
            </a:pPr>
            <a:r>
              <a:rPr lang="en-US" sz="2850" dirty="0">
                <a:solidFill>
                  <a:srgbClr val="E8E7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Teaching biostatistics with a toolkit students actually reach for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38250" y="5489972"/>
            <a:ext cx="8794111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950" dirty="0">
                <a:solidFill>
                  <a:srgbClr val="9A988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Calculators, a test-picker wizard, study-design guides, and critical-appraisal reference — free on the web, built for coursework, journal clubs, and clinical research.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4878050" y="5819775"/>
            <a:ext cx="2171700" cy="21717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blurRad="285750" dist="952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30450" y="5972175"/>
            <a:ext cx="1866900" cy="1866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247144" y="8143875"/>
            <a:ext cx="1576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86" dirty="0">
                <a:solidFill>
                  <a:srgbClr val="9A988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Scan to open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1238250" y="8829675"/>
            <a:ext cx="51172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D6C6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statprof1234.github.io/Stats-Educator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042720" y="8939213"/>
            <a:ext cx="47625" cy="47625"/>
          </a:xfrm>
          <a:prstGeom prst="ellipse">
            <a:avLst/>
          </a:prstGeom>
          <a:solidFill>
            <a:srgbClr val="6D6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2745" y="8829675"/>
            <a:ext cx="2766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D6C6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© 2026 Michael Glick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4143137" y="8686800"/>
            <a:ext cx="2906613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4587" y="8782050"/>
            <a:ext cx="2563713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001000" cy="147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25"/>
              </a:lnSpc>
              <a:buNone/>
            </a:pPr>
            <a:r>
              <a:rPr lang="en-US" sz="5550" i="1" kern="0" spc="-5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One homepage, three doors into the whole workflow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143000" y="2942630"/>
            <a:ext cx="1274876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Point students at a single URL. Each door answers a different question they'll hit while doing — or reading — research.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4238030"/>
            <a:ext cx="5156150" cy="4477345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14475" y="462855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76375" y="462855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312E8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?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514475" y="5428655"/>
            <a:ext cx="485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Calculator Should I Use?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514475" y="5857280"/>
            <a:ext cx="454559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wizard that turns "what test do I run?" into a few plain-language questions.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514475" y="8077200"/>
            <a:ext cx="4545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doing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850" y="4238030"/>
            <a:ext cx="5156150" cy="4477345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37325" y="462855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99225" y="462855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064E3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937325" y="5428655"/>
            <a:ext cx="485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Study Designs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937325" y="5857280"/>
            <a:ext cx="454559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Side-by-side guides to RCTs, cohort, case-control and more — with when each fits.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937325" y="8077200"/>
            <a:ext cx="4545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framing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988701" y="4238030"/>
            <a:ext cx="5156150" cy="4477345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360176" y="462855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DF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22076" y="462855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713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360176" y="5428655"/>
            <a:ext cx="485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2360176" y="5857280"/>
            <a:ext cx="454559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types, graphs, critical-appraisal checklists and a quick-reference library.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360176" y="8077200"/>
            <a:ext cx="4545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reading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GETTING AROUND · STEP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032398" cy="147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25"/>
              </a:lnSpc>
              <a:buNone/>
            </a:pPr>
            <a:r>
              <a:rPr lang="en-US" sz="5550" i="1" kern="0" spc="-5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Open the site — the homepage is the whole map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143000" y="2923580"/>
            <a:ext cx="9372600" cy="5791795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52525" y="2933105"/>
            <a:ext cx="9353550" cy="723900"/>
          </a:xfrm>
          <a:prstGeom prst="rect">
            <a:avLst/>
          </a:prstGeom>
          <a:solidFill>
            <a:srgbClr val="F6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2525" y="3647480"/>
            <a:ext cx="935355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62075" y="3228380"/>
            <a:ext cx="123825" cy="123825"/>
          </a:xfrm>
          <a:prstGeom prst="ellipse">
            <a:avLst/>
          </a:prstGeom>
          <a:solidFill>
            <a:srgbClr val="E0DE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62100" y="3228380"/>
            <a:ext cx="123825" cy="123825"/>
          </a:xfrm>
          <a:prstGeom prst="ellipse">
            <a:avLst/>
          </a:prstGeom>
          <a:solidFill>
            <a:srgbClr val="E0DE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62125" y="3228380"/>
            <a:ext cx="123825" cy="123825"/>
          </a:xfrm>
          <a:prstGeom prst="ellipse">
            <a:avLst/>
          </a:prstGeom>
          <a:solidFill>
            <a:srgbClr val="E0DE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9300" y="3085505"/>
            <a:ext cx="8277225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81225" y="3171230"/>
            <a:ext cx="820169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6A6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statprof1234.github.io/Stats-Educator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685925" y="4018955"/>
            <a:ext cx="911542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i="1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Biostat Toolkit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685925" y="4685705"/>
            <a:ext cx="629635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Calculators, critical-appraisal guides, and quick reference for coursework, journal clubs, and clinical research.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685925" y="5695355"/>
            <a:ext cx="8286750" cy="781050"/>
          </a:xfrm>
          <a:prstGeom prst="roundRect">
            <a:avLst>
              <a:gd name="adj" fmla="val 14634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24050" y="589538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85950" y="589538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457450" y="5938242"/>
            <a:ext cx="37578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Calculator Should I Use?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685925" y="6628805"/>
            <a:ext cx="8286750" cy="781050"/>
          </a:xfrm>
          <a:prstGeom prst="roundRect">
            <a:avLst>
              <a:gd name="adj" fmla="val 14634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24050" y="682883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85950" y="682883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2457450" y="6871692"/>
            <a:ext cx="1744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Study Designs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685925" y="7562255"/>
            <a:ext cx="8286750" cy="781050"/>
          </a:xfrm>
          <a:prstGeom prst="roundRect">
            <a:avLst>
              <a:gd name="adj" fmla="val 14634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24050" y="776228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85950" y="776228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457450" y="7805142"/>
            <a:ext cx="5352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— Data, Graphs, Appraisal &amp; Reference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896600" y="4569321"/>
            <a:ext cx="32772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319570" y="4569321"/>
            <a:ext cx="600019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81"/>
              </a:lnSpc>
              <a:buNone/>
            </a:pPr>
            <a:r>
              <a:rPr lang="en-US" sz="18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Nothing to install and no account — it's a public web page. Share the URL or a QR code.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0896600" y="5469434"/>
            <a:ext cx="32772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319570" y="5469434"/>
            <a:ext cx="600019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81"/>
              </a:lnSpc>
              <a:buNone/>
            </a:pPr>
            <a:r>
              <a:rPr lang="en-US" sz="18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Works on a laptop or a phone — handy for in-class polls and bedside lookups alike.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0896600" y="6369546"/>
            <a:ext cx="32772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319570" y="6369546"/>
            <a:ext cx="6000193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81"/>
              </a:lnSpc>
              <a:buNone/>
            </a:pPr>
            <a:r>
              <a:rPr lang="en-US" sz="18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three buttons are the entire menu. Teach students to ask: </a:t>
            </a:r>
            <a:r>
              <a:rPr lang="en-US" sz="1875" i="1" dirty="0">
                <a:solidFill>
                  <a:srgbClr val="3A38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am I doing, framing, or reading?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MAP · WHAT'S INSIDE EACH HUB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288357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200"/>
              </a:lnSpc>
              <a:buNone/>
            </a:pPr>
            <a:r>
              <a:rPr lang="en-US" sz="4950" i="1" kern="0" spc="-49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Categories behind each door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108002"/>
            <a:ext cx="1333418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8"/>
              </a:lnSpc>
              <a:buNone/>
            </a:pPr>
            <a:r>
              <a:rPr lang="en-US" sz="18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hub is scoped to one job: the Calculator hub returns </a:t>
            </a:r>
            <a:r>
              <a:rPr lang="en-US" sz="1875" b="1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calculators</a:t>
            </a:r>
            <a:r>
              <a:rPr lang="en-US" sz="18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the Design hub covers </a:t>
            </a:r>
            <a:r>
              <a:rPr lang="en-US" sz="1875" b="1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study designs </a:t>
            </a:r>
            <a:r>
              <a:rPr lang="en-US" sz="18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the concept &amp; appraisal </a:t>
            </a:r>
            <a:r>
              <a:rPr lang="en-US" sz="1875" b="1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guides </a:t>
            </a:r>
            <a:r>
              <a:rPr lang="en-US" sz="18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(like Likert Scales) live only in the </a:t>
            </a:r>
            <a:r>
              <a:rPr lang="en-US" sz="1875" b="1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hub</a:t>
            </a:r>
            <a:r>
              <a:rPr lang="en-US" sz="18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143000" y="3146227"/>
            <a:ext cx="5156150" cy="5569148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57325" y="3479602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9225" y="347960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i="1" dirty="0">
                <a:solidFill>
                  <a:srgbClr val="312E8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00250" y="3541514"/>
            <a:ext cx="17931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Calculator Hub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57325" y="3974902"/>
            <a:ext cx="4980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122 calculators · 13 categories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57325" y="441305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Comparing means &amp; medians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457325" y="477500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Comparing proportions &amp; rates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457325" y="513695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Correlation &amp; regression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457325" y="549890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Diagnostic accuracy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457325" y="586085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Survival analysis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457325" y="622280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Sample size &amp; power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457325" y="8162925"/>
            <a:ext cx="46633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…representative of the 13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65850" y="3146227"/>
            <a:ext cx="5156150" cy="5569148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80175" y="3479602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42075" y="347960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i="1" dirty="0">
                <a:solidFill>
                  <a:srgbClr val="064E3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423100" y="3541514"/>
            <a:ext cx="13743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Hub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80175" y="3974902"/>
            <a:ext cx="4980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study-design guides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80175" y="441305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Randomized controlled trials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6880175" y="477500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Cohort studies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6880175" y="513695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Case-control studies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6880175" y="549890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Cross-sectional studies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6880175" y="5860852"/>
            <a:ext cx="4980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Systematic reviews &amp; meta-analysis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6880175" y="8162925"/>
            <a:ext cx="46633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representative categories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988701" y="3146227"/>
            <a:ext cx="5156150" cy="5569148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2303026" y="3479602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DF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264926" y="347960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i="1" dirty="0">
                <a:solidFill>
                  <a:srgbClr val="713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845951" y="3541514"/>
            <a:ext cx="11834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Hub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303026" y="3974902"/>
            <a:ext cx="4980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4530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 guide groups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03026" y="4413052"/>
            <a:ext cx="10400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Types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6733341" y="4413052"/>
            <a:ext cx="1733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2303026" y="4755952"/>
            <a:ext cx="31637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Reading &amp; Understanding Graphs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6733341" y="4755952"/>
            <a:ext cx="1733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2303026" y="5098852"/>
            <a:ext cx="32036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Critical Appraisal of the Literature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6636157" y="5098852"/>
            <a:ext cx="2705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2303026" y="5441752"/>
            <a:ext cx="29680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Evidence Synthesis &amp; Certainty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733341" y="5441752"/>
            <a:ext cx="1733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2303026" y="5784652"/>
            <a:ext cx="25831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Common Statistical Pitfalls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6733341" y="5784652"/>
            <a:ext cx="1733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12303026" y="6127552"/>
            <a:ext cx="15825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Quick Reference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733341" y="6127552"/>
            <a:ext cx="1733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12303026" y="8162925"/>
            <a:ext cx="46633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806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actual counts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DOOR 1 · THE WIZARD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032398" cy="147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25"/>
              </a:lnSpc>
              <a:buNone/>
            </a:pPr>
            <a:r>
              <a:rPr lang="en-US" sz="5550" i="1" kern="0" spc="-5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"Which Calculator Should I Use?"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143000" y="2942630"/>
            <a:ext cx="120203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Answer a short chain of plain-language questions; the wizard names the right test and links straight to its calculator.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4028480"/>
            <a:ext cx="17602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44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CLICK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4342805"/>
            <a:ext cx="1278285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3975" y="4428530"/>
            <a:ext cx="9925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Homepage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2535585" y="44142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775645" y="4342805"/>
            <a:ext cx="3008561" cy="4095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56620" y="4428530"/>
            <a:ext cx="27368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Calculator Should I Use?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898505" y="44142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38565" y="4342805"/>
            <a:ext cx="2074813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19540" y="4428530"/>
            <a:ext cx="17890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Answer the prompts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8327678" y="44142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67738" y="4342805"/>
            <a:ext cx="2016323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48712" y="4428530"/>
            <a:ext cx="173057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Recommended test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43000" y="5171480"/>
            <a:ext cx="5156150" cy="354389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95425" y="5542955"/>
            <a:ext cx="48964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STEP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5425" y="5981105"/>
            <a:ext cx="4896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kind of outcome?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95425" y="6438305"/>
            <a:ext cx="4584839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Continuous, categorical, or time-to-event — in words, not jargon.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565850" y="5171480"/>
            <a:ext cx="5156150" cy="354389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18275" y="5542955"/>
            <a:ext cx="48964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STEP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18275" y="5981105"/>
            <a:ext cx="4896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many groups?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918275" y="6438305"/>
            <a:ext cx="4584839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One, two, or more — and paired or independent.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988701" y="5171480"/>
            <a:ext cx="5156150" cy="3543895"/>
          </a:xfrm>
          <a:prstGeom prst="roundRect">
            <a:avLst>
              <a:gd name="adj" fmla="val 4838"/>
            </a:avLst>
          </a:prstGeom>
          <a:solidFill>
            <a:srgbClr val="312E81"/>
          </a:solidFill>
          <a:ln w="9525">
            <a:solidFill>
              <a:srgbClr val="312E81"/>
            </a:solidFill>
            <a:prstDash val="solid"/>
          </a:ln>
          <a:effectLst>
            <a:outerShdw blurRad="190500" dist="57150" dir="5400000" algn="bl" rotWithShape="0">
              <a:srgbClr val="312E8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341126" y="5542955"/>
            <a:ext cx="48964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B4F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RESULT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1126" y="5981105"/>
            <a:ext cx="4896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recommended test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341126" y="6438305"/>
            <a:ext cx="4584839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C7D2F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Named, explained, and linked to a ready-to-use calculator.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WORKED EXAMPLE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683587" cy="1305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193"/>
              </a:lnSpc>
              <a:buNone/>
            </a:pPr>
            <a:r>
              <a:rPr lang="en-US" sz="4800" i="1" kern="0" spc="-48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"Is mean HbA1c different between two treatment groups?"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963168"/>
            <a:ext cx="8334970" cy="809625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9225" y="3248918"/>
            <a:ext cx="8191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OUTCOME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2352675" y="3215580"/>
            <a:ext cx="6205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HbA1c (%) — continuous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8184505" y="3201293"/>
            <a:ext cx="1017240" cy="3333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7380" y="3248918"/>
            <a:ext cx="8076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selected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43000" y="3944243"/>
            <a:ext cx="8334970" cy="809625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9225" y="4229993"/>
            <a:ext cx="8191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GROUPS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352675" y="4196655"/>
            <a:ext cx="6205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2, independent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8184505" y="4182368"/>
            <a:ext cx="1017240" cy="3333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7380" y="4229993"/>
            <a:ext cx="8076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selected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143000" y="4925318"/>
            <a:ext cx="8334970" cy="809625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19225" y="5211068"/>
            <a:ext cx="8191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SHAPE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2352675" y="5177730"/>
            <a:ext cx="6205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Roughly normal, n ≈ 60/group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184505" y="5163443"/>
            <a:ext cx="1017240" cy="3333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7380" y="5211068"/>
            <a:ext cx="8076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selected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181100" y="5982593"/>
            <a:ext cx="854691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Change the last answer to </a:t>
            </a:r>
            <a:r>
              <a:rPr lang="en-US" sz="1650" i="1" dirty="0">
                <a:solidFill>
                  <a:srgbClr val="6B6A6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skewed </a:t>
            </a: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the wizard swaps its recommendation — a teachable contrast.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897070" y="2963168"/>
            <a:ext cx="7247781" cy="5752207"/>
          </a:xfrm>
          <a:prstGeom prst="roundRect">
            <a:avLst>
              <a:gd name="adj" fmla="val 2981"/>
            </a:avLst>
          </a:prstGeom>
          <a:solidFill>
            <a:srgbClr val="0C0C0A"/>
          </a:solidFill>
          <a:ln/>
          <a:effectLst>
            <a:outerShdw blurRad="285750" dist="95250" dir="5400000" algn="bl" rotWithShape="0">
              <a:srgbClr val="0C0C0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97120" y="3382268"/>
            <a:ext cx="70924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71" dirty="0">
                <a:solidFill>
                  <a:srgbClr val="A5B4F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RECOMMENDED TEST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0297120" y="3829943"/>
            <a:ext cx="709244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493"/>
              </a:lnSpc>
              <a:buNone/>
            </a:pPr>
            <a:r>
              <a:rPr lang="en-US" sz="3900" i="1" dirty="0">
                <a:solidFill>
                  <a:srgbClr val="F2F1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Independent-samples t-test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0297120" y="4540448"/>
            <a:ext cx="664111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9C7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independent groups, one continuous, roughly-normal outcome → compare means with a two-sample t-test.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0297120" y="7239000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0561290" y="7248525"/>
            <a:ext cx="28267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8E7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skewed → Mann–Whitney U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0297120" y="7629525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0561290" y="7639050"/>
            <a:ext cx="22688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8E7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paired → paired t-test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0297120" y="8020050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0561290" y="8029575"/>
            <a:ext cx="272922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8E7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Opens the calculator, pre-set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WORKED EXAMPLE · ORDINAL DATA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683587" cy="1305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193"/>
              </a:lnSpc>
              <a:buNone/>
            </a:pPr>
            <a:r>
              <a:rPr lang="en-US" sz="4800" i="1" kern="0" spc="-48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"Did a workshop shift agreement on a 5-point Likert item?"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810768"/>
            <a:ext cx="17602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44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NOT SURE WHAT A LIKERT SCALE IS? FIND IT IN LEARN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" y="3125093"/>
            <a:ext cx="1278285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3975" y="3210818"/>
            <a:ext cx="9925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Homepage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535585" y="3196530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775645" y="3125093"/>
            <a:ext cx="839093" cy="409575"/>
          </a:xfrm>
          <a:prstGeom prst="roundRect">
            <a:avLst>
              <a:gd name="adj" fmla="val 50000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56620" y="3210818"/>
            <a:ext cx="5533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3729038" y="3196530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969097" y="3125093"/>
            <a:ext cx="1278582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50072" y="3210818"/>
            <a:ext cx="9928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types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61980" y="3196530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602039" y="3125093"/>
            <a:ext cx="2249686" cy="4095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83014" y="3210818"/>
            <a:ext cx="196393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Ordinal &amp; Likert scales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143000" y="3820418"/>
            <a:ext cx="833497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81125" y="4025205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17464" y="4001393"/>
            <a:ext cx="19015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Strongly disagree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4601468"/>
            <a:ext cx="833497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81125" y="4806255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17464" y="4782443"/>
            <a:ext cx="9472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Disagree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43000" y="5382518"/>
            <a:ext cx="8334970" cy="62865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81125" y="5587305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17464" y="5563493"/>
            <a:ext cx="803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Neutral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199561" y="5592068"/>
            <a:ext cx="22443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6A6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ordered, unequal gaps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143000" y="6163568"/>
            <a:ext cx="833497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81125" y="6368355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17464" y="6344543"/>
            <a:ext cx="6570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Agree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43000" y="6944618"/>
            <a:ext cx="833497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81125" y="7149405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617464" y="7125593"/>
            <a:ext cx="1584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Strongly agree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81100" y="7782818"/>
            <a:ext cx="854691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categories are </a:t>
            </a:r>
            <a:r>
              <a:rPr lang="en-US" sz="1650" i="1" dirty="0">
                <a:solidFill>
                  <a:srgbClr val="6B6A6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ordered </a:t>
            </a: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but the distance between them isn't equal — so tell the wizard the outcome is </a:t>
            </a:r>
            <a:r>
              <a:rPr lang="en-US" sz="1650" b="1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categorical, ordinal</a:t>
            </a: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897070" y="3820418"/>
            <a:ext cx="7247781" cy="4894957"/>
          </a:xfrm>
          <a:prstGeom prst="roundRect">
            <a:avLst>
              <a:gd name="adj" fmla="val 3503"/>
            </a:avLst>
          </a:prstGeom>
          <a:solidFill>
            <a:srgbClr val="0C0C0A"/>
          </a:solidFill>
          <a:ln/>
          <a:effectLst>
            <a:outerShdw blurRad="285750" dist="95250" dir="5400000" algn="bl" rotWithShape="0">
              <a:srgbClr val="0C0C0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297120" y="4239518"/>
            <a:ext cx="70924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71" dirty="0">
                <a:solidFill>
                  <a:srgbClr val="A5B4F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RECOMMENDED TEST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10297120" y="4687193"/>
            <a:ext cx="7092449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600" i="1" dirty="0">
                <a:solidFill>
                  <a:srgbClr val="F2F1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Mann–Whitney U test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10297120" y="5357664"/>
            <a:ext cx="6641111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9C7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independent groups, one ordinal outcome → compare distributions with a rank-based (non-parametric) test — </a:t>
            </a:r>
            <a:r>
              <a:rPr lang="en-US" sz="1725" i="1" dirty="0">
                <a:solidFill>
                  <a:srgbClr val="C9C7B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not </a:t>
            </a:r>
            <a:r>
              <a:rPr lang="en-US" sz="1725" dirty="0">
                <a:solidFill>
                  <a:srgbClr val="C9C7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t-test.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0297120" y="7239000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0561290" y="7248525"/>
            <a:ext cx="32954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8E7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 median &amp; IQR, not the mean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0297120" y="7629525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10561290" y="7639050"/>
            <a:ext cx="35182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8E7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Before/after → Wilcoxon signed-rank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10297120" y="8020050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0561290" y="8029575"/>
            <a:ext cx="26387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8E7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3+ groups → Kruskal–Wallis</a:t>
            </a:r>
            <a:endParaRPr lang="en-US" sz="1575" dirty="0"/>
          </a:p>
        </p:txBody>
      </p:sp>
      <p:sp>
        <p:nvSpPr>
          <p:cNvPr id="43" name="Shape 41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B4530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FINDING A GUIDE · LEARN HUB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95400"/>
            <a:ext cx="9470380" cy="1165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80"/>
              </a:lnSpc>
              <a:buNone/>
            </a:pPr>
            <a:r>
              <a:rPr lang="en-US" sz="4350" i="1" kern="0" spc="-43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Four ways</a:t>
            </a:r>
            <a:br>
              <a:rPr lang="en-US" sz="4350" i="1" kern="0" spc="-43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</a:br>
            <a:r>
              <a:rPr lang="en-US" sz="4350" i="1" kern="0" spc="-43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 reach the Likert Scales guide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2674739"/>
            <a:ext cx="13730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Target guide: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543621" y="2593777"/>
            <a:ext cx="4745534" cy="428625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05546" y="2679502"/>
            <a:ext cx="4564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Likert Scales: Single Item vs. Summated Scale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441555" y="2684264"/>
            <a:ext cx="61607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7968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 Learn › Data Types · the sidebar has 3 hub links + a search box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43000" y="3270052"/>
            <a:ext cx="7915275" cy="2181523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19225" y="3508177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DF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81125" y="3508177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13F0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57375" y="3527227"/>
            <a:ext cx="3434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Browse the Learn hub directly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419225" y="3965377"/>
            <a:ext cx="718691" cy="371475"/>
          </a:xfrm>
          <a:prstGeom prst="roundRect">
            <a:avLst>
              <a:gd name="adj" fmla="val 23077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52575" y="4041577"/>
            <a:ext cx="5281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214116" y="4041577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393305" y="3965377"/>
            <a:ext cx="1787575" cy="371475"/>
          </a:xfrm>
          <a:prstGeom prst="roundRect">
            <a:avLst>
              <a:gd name="adj" fmla="val 23077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26655" y="4041577"/>
            <a:ext cx="15970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Types section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257080" y="4041577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36269" y="3965377"/>
            <a:ext cx="1793230" cy="371475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69619" y="4041577"/>
            <a:ext cx="160273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Likert Scales guide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229725" y="3270052"/>
            <a:ext cx="7915275" cy="2181523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05950" y="3508177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DF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67850" y="3508177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13F0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944100" y="3527227"/>
            <a:ext cx="28321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hub's Guide Finder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505950" y="3965377"/>
            <a:ext cx="718691" cy="371475"/>
          </a:xfrm>
          <a:prstGeom prst="roundRect">
            <a:avLst>
              <a:gd name="adj" fmla="val 23077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39300" y="4041577"/>
            <a:ext cx="5281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300841" y="4041577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0480030" y="3965377"/>
            <a:ext cx="2344489" cy="371475"/>
          </a:xfrm>
          <a:prstGeom prst="roundRect">
            <a:avLst>
              <a:gd name="adj" fmla="val 23077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613380" y="4041577"/>
            <a:ext cx="21539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"Not sure where to start?"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900720" y="4041577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3079909" y="3965377"/>
            <a:ext cx="1490514" cy="371475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213259" y="4041577"/>
            <a:ext cx="130001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guide in results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505950" y="4470202"/>
            <a:ext cx="7583710" cy="527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565"/>
              </a:lnSpc>
              <a:buNone/>
            </a:pPr>
            <a:r>
              <a:rPr lang="en-US" sz="13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e.g. </a:t>
            </a:r>
            <a:r>
              <a:rPr lang="en-US" sz="1350" i="1" dirty="0">
                <a:solidFill>
                  <a:srgbClr val="6B6A6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"what kind of data?" </a:t>
            </a:r>
            <a:r>
              <a:rPr lang="en-US" sz="13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ordered categories, unequal gaps · or </a:t>
            </a:r>
            <a:r>
              <a:rPr lang="en-US" sz="1350" i="1" dirty="0">
                <a:solidFill>
                  <a:srgbClr val="6B6A6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"appraise a study" </a:t>
            </a:r>
            <a:r>
              <a:rPr lang="en-US" sz="13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survey / questionnaire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000" y="5623024"/>
            <a:ext cx="7915275" cy="2006501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419225" y="5861149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DF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81125" y="5861149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13F0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857375" y="5880199"/>
            <a:ext cx="36905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Cross-links from a related guide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1419225" y="6318349"/>
            <a:ext cx="718691" cy="371475"/>
          </a:xfrm>
          <a:prstGeom prst="roundRect">
            <a:avLst>
              <a:gd name="adj" fmla="val 23077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552575" y="6394549"/>
            <a:ext cx="5281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214116" y="6394549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393305" y="6318349"/>
            <a:ext cx="3547318" cy="371475"/>
          </a:xfrm>
          <a:prstGeom prst="roundRect">
            <a:avLst>
              <a:gd name="adj" fmla="val 23077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526655" y="6394549"/>
            <a:ext cx="338703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Ordinal Data / Survey Research / PROMs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016823" y="6394549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196013" y="6318349"/>
            <a:ext cx="1008459" cy="371475"/>
          </a:xfrm>
          <a:prstGeom prst="roundRect">
            <a:avLst>
              <a:gd name="adj" fmla="val 23077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29363" y="6394549"/>
            <a:ext cx="81795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"Related"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280672" y="6394549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419225" y="6766024"/>
            <a:ext cx="1793230" cy="371475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552575" y="6842224"/>
            <a:ext cx="160273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Likert Scales guide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229725" y="5623024"/>
            <a:ext cx="7915275" cy="2006501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505950" y="5861149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DF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467850" y="5861149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13F0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944100" y="5880199"/>
            <a:ext cx="8178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</a:t>
            </a:r>
            <a:endParaRPr lang="en-US" sz="1725" dirty="0"/>
          </a:p>
        </p:txBody>
      </p:sp>
      <p:sp>
        <p:nvSpPr>
          <p:cNvPr id="52" name="Shape 50"/>
          <p:cNvSpPr/>
          <p:nvPr/>
        </p:nvSpPr>
        <p:spPr>
          <a:xfrm>
            <a:off x="9505950" y="6318349"/>
            <a:ext cx="1814810" cy="371475"/>
          </a:xfrm>
          <a:prstGeom prst="roundRect">
            <a:avLst>
              <a:gd name="adj" fmla="val 23077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639300" y="6394549"/>
            <a:ext cx="16243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Sidebar search box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1396960" y="6394549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11576149" y="6318349"/>
            <a:ext cx="1604070" cy="371475"/>
          </a:xfrm>
          <a:prstGeom prst="roundRect">
            <a:avLst>
              <a:gd name="adj" fmla="val 23077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1709499" y="6394549"/>
            <a:ext cx="14135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A382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type "Likert"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3256419" y="6394549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13435608" y="6318349"/>
            <a:ext cx="1490514" cy="371475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3568958" y="6394549"/>
            <a:ext cx="130001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guide in results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1143000" y="7800975"/>
            <a:ext cx="16002000" cy="914400"/>
          </a:xfrm>
          <a:prstGeom prst="roundRect">
            <a:avLst>
              <a:gd name="adj" fmla="val 14583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400175" y="7981950"/>
            <a:ext cx="303758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61"/>
              </a:lnSpc>
              <a:buNone/>
            </a:pPr>
            <a:r>
              <a:rPr lang="en-US" sz="1800" dirty="0">
                <a:solidFill>
                  <a:srgbClr val="B4530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⊘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780133" y="7981950"/>
            <a:ext cx="1556092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38"/>
              </a:lnSpc>
              <a:buNone/>
            </a:pPr>
            <a:r>
              <a:rPr lang="en-US" sz="1500" b="1" dirty="0">
                <a:solidFill>
                  <a:srgbClr val="8A400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 via the calculators. </a:t>
            </a: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"Which Calculator Should I Use?" wizard only ends at calculators — its ordinal branch stops at the IQR / Wilcoxon tools — and "Study Designs" is scoped to study types. Only the Learn- and Design-hub guide-finders point to Learn guides.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65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DOOR 2 · STUDY DESIGNS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032398" cy="147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25"/>
              </a:lnSpc>
              <a:buNone/>
            </a:pPr>
            <a:r>
              <a:rPr lang="en-US" sz="4350" i="1" kern="0" spc="-5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Name the design before you trust the number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2942630"/>
            <a:ext cx="1274876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Compact guides to the common designs — what each answers, its strengths, and the bias to watch for.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4028480"/>
            <a:ext cx="17602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44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CLICK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4342805"/>
            <a:ext cx="1278285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3975" y="4428530"/>
            <a:ext cx="9925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Homepage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2535585" y="44142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775645" y="4342805"/>
            <a:ext cx="1589187" cy="409575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9525">
            <a:solidFill>
              <a:srgbClr val="10806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56620" y="4428530"/>
            <a:ext cx="13034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064E3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Study Designs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4479131" y="44142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719191" y="4342805"/>
            <a:ext cx="1573113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00166" y="4428530"/>
            <a:ext cx="12873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a design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406604" y="44142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646664" y="4342805"/>
            <a:ext cx="2234803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27639" y="4428530"/>
            <a:ext cx="19490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Compare side-by-side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43000" y="5133380"/>
            <a:ext cx="3829050" cy="35819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38275" y="5447705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4E3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8275" y="5857280"/>
            <a:ext cx="3562350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Randomizes to test causation.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438275" y="6299597"/>
            <a:ext cx="3238500" cy="800100"/>
          </a:xfrm>
          <a:prstGeom prst="roundRect">
            <a:avLst>
              <a:gd name="adj" fmla="val 10714"/>
            </a:avLst>
          </a:prstGeom>
          <a:solidFill>
            <a:srgbClr val="F6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90675" y="6432947"/>
            <a:ext cx="30308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e.g. new drug vs. placebo, randomly assigned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38275" y="8181975"/>
            <a:ext cx="35623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Watch: dropout, blinding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200650" y="5133380"/>
            <a:ext cx="3829050" cy="35819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95925" y="5447705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4E3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Cohort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95925" y="5857280"/>
            <a:ext cx="3562350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Follows exposed vs. not over time.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5495925" y="6299597"/>
            <a:ext cx="3238500" cy="800100"/>
          </a:xfrm>
          <a:prstGeom prst="roundRect">
            <a:avLst>
              <a:gd name="adj" fmla="val 10714"/>
            </a:avLst>
          </a:prstGeom>
          <a:solidFill>
            <a:srgbClr val="F6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48325" y="6432947"/>
            <a:ext cx="30308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e.g. smokers vs. non-smokers, tracked for lung cancer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95925" y="8181975"/>
            <a:ext cx="35623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Watch: confounding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258300" y="5133380"/>
            <a:ext cx="3829050" cy="35819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53575" y="5447705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4E3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Case-control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53575" y="5857280"/>
            <a:ext cx="3562350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Starts from outcome, looks back.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9553575" y="6299597"/>
            <a:ext cx="3238500" cy="800100"/>
          </a:xfrm>
          <a:prstGeom prst="roundRect">
            <a:avLst>
              <a:gd name="adj" fmla="val 10714"/>
            </a:avLst>
          </a:prstGeom>
          <a:solidFill>
            <a:srgbClr val="F6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705975" y="6432947"/>
            <a:ext cx="30308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e.g. patients with vs. without a defect, exposure looked up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553575" y="8181975"/>
            <a:ext cx="35623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Watch: recall bias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3315950" y="5133380"/>
            <a:ext cx="3829050" cy="35819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611225" y="5447705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4E3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Cross-sectional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611225" y="5857280"/>
            <a:ext cx="3562350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Snapshot of a population at once.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13611225" y="6299597"/>
            <a:ext cx="3238500" cy="800100"/>
          </a:xfrm>
          <a:prstGeom prst="roundRect">
            <a:avLst>
              <a:gd name="adj" fmla="val 10714"/>
            </a:avLst>
          </a:prstGeom>
          <a:solidFill>
            <a:srgbClr val="F6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763625" y="6432947"/>
            <a:ext cx="30308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e.g. one-time survey of obesity prevalence in a clinic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611225" y="8181975"/>
            <a:ext cx="35623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Watch: no causation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04785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WORKED EXAMPLE · CHOOSING A DESIGN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683587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500" i="1" kern="0" spc="-4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"Did a medication in pregnancy cause a rare birth defect?"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826841"/>
            <a:ext cx="8334970" cy="7334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9225" y="3084016"/>
            <a:ext cx="1219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OUTCOME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52725" y="3045916"/>
            <a:ext cx="70939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Rare — few cases exist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3712666"/>
            <a:ext cx="8334970" cy="7334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9225" y="3969841"/>
            <a:ext cx="1219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EXPOSURE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52725" y="3931741"/>
            <a:ext cx="70939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Already happened, in the past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598491"/>
            <a:ext cx="8334970" cy="7334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9225" y="4855666"/>
            <a:ext cx="1219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ETHICS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52725" y="4817566"/>
            <a:ext cx="70939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Can't randomize a harmful exposure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5484316"/>
            <a:ext cx="8334970" cy="7334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9225" y="5741491"/>
            <a:ext cx="1219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TIME &amp; COST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52725" y="5703391"/>
            <a:ext cx="70939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Need an answer without decades of follow-up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1100" y="6427291"/>
            <a:ext cx="854691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cohort would wait years for a handful of cases; an RCT is off the table. Start from the </a:t>
            </a:r>
            <a:r>
              <a:rPr lang="en-US" sz="1650" i="1" dirty="0">
                <a:solidFill>
                  <a:srgbClr val="6B6A6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outcome </a:t>
            </a: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instead.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897070" y="2826841"/>
            <a:ext cx="7247781" cy="5888534"/>
          </a:xfrm>
          <a:prstGeom prst="roundRect">
            <a:avLst>
              <a:gd name="adj" fmla="val 2912"/>
            </a:avLst>
          </a:prstGeom>
          <a:solidFill>
            <a:srgbClr val="064E3B"/>
          </a:solidFill>
          <a:ln/>
          <a:effectLst>
            <a:outerShdw blurRad="285750" dist="95250" dir="5400000" algn="bl" rotWithShape="0">
              <a:srgbClr val="064E3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97120" y="3245941"/>
            <a:ext cx="70924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71" dirty="0">
                <a:solidFill>
                  <a:srgbClr val="6EE7B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RECOMMENDED DESIGN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0297120" y="3693616"/>
            <a:ext cx="709244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493"/>
              </a:lnSpc>
              <a:buNone/>
            </a:pPr>
            <a:r>
              <a:rPr lang="en-US" sz="39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Case-control study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0297120" y="4404122"/>
            <a:ext cx="6641111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BFE6D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Recruit babies with the defect (cases) and without (controls), then look back at exposure — efficient when the outcome is rare.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0297120" y="7239000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0561290" y="7248525"/>
            <a:ext cx="22909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7F5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Yields an odds ratio (OR)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0297120" y="7629525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0561290" y="7639050"/>
            <a:ext cx="310571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7F5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&amp; feasible for rare outcomes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0297120" y="8020050"/>
            <a:ext cx="226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EE7B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0561290" y="8029575"/>
            <a:ext cx="300699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7F5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Watch for recall &amp; selection bias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B4530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DOOR 3 · LEARN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7362968" cy="147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25"/>
              </a:lnSpc>
              <a:buNone/>
            </a:pPr>
            <a:r>
              <a:rPr lang="en-US" sz="4350" i="1" kern="0" spc="-5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reference shelf:</a:t>
            </a:r>
            <a:br>
              <a:rPr lang="en-US" sz="4350" i="1" kern="0" spc="-5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</a:br>
            <a:r>
              <a:rPr lang="en-US" sz="4350" i="1" kern="0" spc="-5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data, graphs, appraisal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3037880"/>
            <a:ext cx="17602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44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CLICK PATH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" y="3352205"/>
            <a:ext cx="1278285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3975" y="3437930"/>
            <a:ext cx="9925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Homepage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535585" y="34236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775645" y="3352205"/>
            <a:ext cx="839093" cy="409575"/>
          </a:xfrm>
          <a:prstGeom prst="roundRect">
            <a:avLst>
              <a:gd name="adj" fmla="val 50000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56620" y="3437930"/>
            <a:ext cx="5533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3729038" y="34236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969097" y="3352205"/>
            <a:ext cx="3403848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50072" y="3437930"/>
            <a:ext cx="314401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· Graphs · Appraisal · Reference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487245" y="3423642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727305" y="3352205"/>
            <a:ext cx="1436489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08280" y="3437930"/>
            <a:ext cx="11507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a topic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143000" y="4142780"/>
            <a:ext cx="7877175" cy="2162473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95425" y="4476155"/>
            <a:ext cx="7889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types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495425" y="4876205"/>
            <a:ext cx="7889558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Nominal, ordinal, interval, ratio — and why the type dictates the test.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267825" y="4142780"/>
            <a:ext cx="7877175" cy="2162473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20250" y="4476155"/>
            <a:ext cx="7889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Graphs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620250" y="4876205"/>
            <a:ext cx="7889558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a box plot beats a bar chart; reading Kaplan–Meier and forest plots.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43000" y="6552902"/>
            <a:ext cx="7877175" cy="2162473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95425" y="6886277"/>
            <a:ext cx="7889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Critical appraisal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495425" y="7286327"/>
            <a:ext cx="7889558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Structured checklists to judge whether a paper's claims hold up.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267825" y="6552902"/>
            <a:ext cx="7877175" cy="2162473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20250" y="6886277"/>
            <a:ext cx="7889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Quick reference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620250" y="7286327"/>
            <a:ext cx="7889558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P-values, confidence intervals, sensitivity/specificity — on one page.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B4530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LEARN HUB · QUICK REFERENCE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288357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79200"/>
              </a:lnSpc>
              <a:buNone/>
            </a:pPr>
            <a:r>
              <a:rPr lang="en-US" sz="4350" i="1" kern="0" spc="-49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What's in the Quick Reference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2127052"/>
            <a:ext cx="1352933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9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of six guide groups inside Learn — five reference guides that index and support the rest of the site, rather than a single calculator.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3155752"/>
            <a:ext cx="17602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44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CLICK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3470077"/>
            <a:ext cx="1278285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3975" y="3555802"/>
            <a:ext cx="9925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Homepage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2535585" y="3541514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775645" y="3470077"/>
            <a:ext cx="839093" cy="409575"/>
          </a:xfrm>
          <a:prstGeom prst="roundRect">
            <a:avLst>
              <a:gd name="adj" fmla="val 50000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56620" y="3555802"/>
            <a:ext cx="5533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713F0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729038" y="3541514"/>
            <a:ext cx="201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9C7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›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3969097" y="3470077"/>
            <a:ext cx="2616101" cy="4095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50072" y="3555802"/>
            <a:ext cx="233263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Quick Reference · 5 guides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143000" y="4222552"/>
            <a:ext cx="5181600" cy="2138809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57325" y="4517827"/>
            <a:ext cx="4689539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903"/>
              </a:lnSpc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Glossary of Statistical Abbreviations &amp; Symbols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57325" y="5180707"/>
            <a:ext cx="4689539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quick lookup for the symbols used across the site, grouped by topic and linked to the fuller guide or calculator.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6553200" y="4222552"/>
            <a:ext cx="5181600" cy="2138809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67525" y="4517827"/>
            <a:ext cx="4689539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903"/>
              </a:lnSpc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Critical Appraisal Worksheets </a:t>
            </a:r>
            <a:r>
              <a:rPr lang="en-US" sz="1350" dirty="0">
                <a:solidFill>
                  <a:srgbClr val="B4530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 downloadable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67525" y="5180707"/>
            <a:ext cx="4689539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Six fill-in-the-blank worksheets, one per clinical question type — download the one matching your article and work through it.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1963400" y="4222552"/>
            <a:ext cx="5181600" cy="2138809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277725" y="4517827"/>
            <a:ext cx="500824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903"/>
              </a:lnSpc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 Trade-off Tools on This Site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277725" y="4906417"/>
            <a:ext cx="4689539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index of every interactive chart where one quantity trades off against another — sensitivity vs. specificity, Type I vs. Type II error, and more.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143000" y="6589961"/>
            <a:ext cx="5181600" cy="2138809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57325" y="6885236"/>
            <a:ext cx="500824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903"/>
              </a:lnSpc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Simulators on This Site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57325" y="7273826"/>
            <a:ext cx="4689539" cy="1197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calculator that runs a live in-browser simulation — repeated coin flips, samples, confidence intervals — instead of one computed result.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6553200" y="6589961"/>
            <a:ext cx="5181600" cy="2138809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7525" y="6885236"/>
            <a:ext cx="227083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903"/>
              </a:lnSpc>
              <a:buNone/>
            </a:pP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Stats with Crayons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08120" y="6888956"/>
            <a:ext cx="2156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↗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67525" y="7273826"/>
            <a:ext cx="4689539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Short vignettes where a dog teaches a cat statistics — from Penn Dental Medicine.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6867525" y="8214420"/>
            <a:ext cx="50082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dental.upenn.edu · new tab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963400" y="6589961"/>
            <a:ext cx="5181600" cy="2138809"/>
          </a:xfrm>
          <a:prstGeom prst="roundRect">
            <a:avLst>
              <a:gd name="adj" fmla="val 7125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277725" y="7131248"/>
            <a:ext cx="50082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3000" i="1" dirty="0">
                <a:solidFill>
                  <a:srgbClr val="713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 guides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2277725" y="7607498"/>
            <a:ext cx="4689539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1575" dirty="0">
                <a:solidFill>
                  <a:srgbClr val="8A400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reference layer — it points to material and tools elsewhere on the site, not new calculations.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143000" y="8976420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43000" y="9162157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38345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B4530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FINDING A CONCEPT · THE CONFIDENCE INTERVAL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104753" cy="1305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193"/>
              </a:lnSpc>
              <a:buNone/>
            </a:pPr>
            <a:r>
              <a:rPr lang="en-US" sz="4350" i="1" kern="0" spc="-48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Look it up in two clicks — </a:t>
            </a:r>
            <a:br>
              <a:rPr lang="en-US" sz="4350" i="1" kern="0" spc="-48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</a:br>
            <a:r>
              <a:rPr lang="en-US" sz="4350" i="1" kern="0" spc="-48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then avoid the trap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2963168"/>
            <a:ext cx="76182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WHERE TO FIND 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43000" y="3334643"/>
            <a:ext cx="6925717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00175" y="3553718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DF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62075" y="355371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13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33575" y="3587055"/>
            <a:ext cx="13702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</a:t>
            </a: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4950" y="4268093"/>
            <a:ext cx="725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D9D6C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↓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4668143"/>
            <a:ext cx="6925717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00175" y="4887218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DF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62075" y="488721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13F0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33575" y="4920555"/>
            <a:ext cx="39668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</a:t>
            </a:r>
            <a:r>
              <a:rPr lang="en-US" sz="180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Common Statistical Pitfalls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4950" y="5601593"/>
            <a:ext cx="725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D9D6C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↓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43000" y="6001643"/>
            <a:ext cx="6925717" cy="80010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00175" y="6220718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62075" y="622071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933575" y="6254055"/>
            <a:ext cx="30325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Confidence interval </a:t>
            </a:r>
            <a:r>
              <a:rPr lang="en-US" sz="1800" dirty="0">
                <a:solidFill>
                  <a:srgbClr val="312E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7011293"/>
            <a:ext cx="76182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1650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concept sits under the same three doors — searchable, not buried.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487817" y="2963168"/>
            <a:ext cx="8657034" cy="1557338"/>
          </a:xfrm>
          <a:prstGeom prst="roundRect">
            <a:avLst>
              <a:gd name="adj" fmla="val 9786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02142" y="3239393"/>
            <a:ext cx="88312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802142" y="3553718"/>
            <a:ext cx="826923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81"/>
              </a:lnSpc>
              <a:buNone/>
            </a:pPr>
            <a:r>
              <a:rPr lang="en-US" sz="18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</a:t>
            </a:r>
            <a:r>
              <a:rPr lang="en-US" sz="1875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95% confidence interval </a:t>
            </a:r>
            <a:r>
              <a:rPr lang="en-US" sz="18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 the range of effect sizes compatible with the data — a measure of precision around the estimate.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8487817" y="4691955"/>
            <a:ext cx="8657034" cy="1426666"/>
          </a:xfrm>
          <a:prstGeom prst="roundRect">
            <a:avLst>
              <a:gd name="adj" fmla="val 9347"/>
            </a:avLst>
          </a:prstGeom>
          <a:solidFill>
            <a:srgbClr val="FDECEA"/>
          </a:solidFill>
          <a:ln w="9525">
            <a:solidFill>
              <a:srgbClr val="B4231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64042" y="4930080"/>
            <a:ext cx="294084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556"/>
              </a:lnSpc>
              <a:buNone/>
            </a:pPr>
            <a:r>
              <a:rPr lang="en-US" sz="2100" dirty="0">
                <a:solidFill>
                  <a:srgbClr val="B4231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53376" y="4930080"/>
            <a:ext cx="84867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9A1B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pitfall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9153376" y="5272980"/>
            <a:ext cx="7946708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"There's a 95% chance the true value lies in this interval." </a:t>
            </a:r>
            <a:r>
              <a:rPr lang="en-US" sz="1650" i="1" dirty="0">
                <a:solidFill>
                  <a:srgbClr val="3A38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true value is fixed — it either is or isn't in there.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8487817" y="6290072"/>
            <a:ext cx="8657034" cy="1426666"/>
          </a:xfrm>
          <a:prstGeom prst="roundRect">
            <a:avLst>
              <a:gd name="adj" fmla="val 9347"/>
            </a:avLst>
          </a:prstGeom>
          <a:solidFill>
            <a:srgbClr val="E6F4EF"/>
          </a:solidFill>
          <a:ln w="9525">
            <a:solidFill>
              <a:srgbClr val="10806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64042" y="6528197"/>
            <a:ext cx="2760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556"/>
              </a:lnSpc>
              <a:buNone/>
            </a:pPr>
            <a:r>
              <a:rPr lang="en-US" sz="2100" dirty="0">
                <a:solidFill>
                  <a:srgbClr val="10806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35368" y="6528197"/>
            <a:ext cx="85065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D6B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it really means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9135368" y="6871097"/>
            <a:ext cx="7965256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29"/>
              </a:lnSpc>
              <a:buNone/>
            </a:pPr>
            <a:r>
              <a:rPr lang="en-US" sz="16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Repeat the study many times and </a:t>
            </a:r>
            <a:r>
              <a:rPr lang="en-US" sz="1650" b="1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95% of such intervals </a:t>
            </a:r>
            <a:r>
              <a:rPr lang="en-US" sz="16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would capture the true value. Practical rule: a ratio CI crossing </a:t>
            </a:r>
            <a:r>
              <a:rPr lang="en-US" sz="1650" b="1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1.0 </a:t>
            </a:r>
            <a:r>
              <a:rPr lang="en-US" sz="165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isn't significant.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B4530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WORKED EXAMPLE · JOURNAL CLUB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7525765" cy="1305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193"/>
              </a:lnSpc>
              <a:buNone/>
            </a:pPr>
            <a:r>
              <a:rPr lang="en-US" sz="4350" i="1" kern="0" spc="-48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Appraising a result students will actually meet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001268"/>
            <a:ext cx="7420421" cy="57141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71625" y="4958209"/>
            <a:ext cx="72194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CLAIM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571625" y="5367784"/>
            <a:ext cx="7219489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400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"Treatment reduced mortality — hazard ratio 0.71."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71625" y="6038255"/>
            <a:ext cx="6563171" cy="720030"/>
          </a:xfrm>
          <a:prstGeom prst="roundRect">
            <a:avLst>
              <a:gd name="adj" fmla="val 13229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09750" y="6238280"/>
            <a:ext cx="628381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3A382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HR 0.71 · 95% CI 0.62–0.82 · P&lt;0.001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82521" y="4142929"/>
            <a:ext cx="8162479" cy="1041946"/>
          </a:xfrm>
          <a:prstGeom prst="roundRect">
            <a:avLst>
              <a:gd name="adj" fmla="val 10970"/>
            </a:avLst>
          </a:prstGeom>
          <a:solidFill>
            <a:srgbClr val="E6F4EF"/>
          </a:solidFill>
          <a:ln w="9525">
            <a:solidFill>
              <a:srgbClr val="10806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9696" y="4362004"/>
            <a:ext cx="2617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950" dirty="0">
                <a:solidFill>
                  <a:srgbClr val="10806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96735" y="4362004"/>
            <a:ext cx="4926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D6B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CI excludes 1.0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9596735" y="4685854"/>
            <a:ext cx="4926881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889"/>
              </a:lnSpc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0.62–0.82 — the effect is statistically convincing.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8982521" y="5337274"/>
            <a:ext cx="8162479" cy="1041946"/>
          </a:xfrm>
          <a:prstGeom prst="roundRect">
            <a:avLst>
              <a:gd name="adj" fmla="val 10970"/>
            </a:avLst>
          </a:prstGeom>
          <a:solidFill>
            <a:srgbClr val="E6F4EF"/>
          </a:solidFill>
          <a:ln w="9525">
            <a:solidFill>
              <a:srgbClr val="10806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9696" y="5556349"/>
            <a:ext cx="2617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950" dirty="0">
                <a:solidFill>
                  <a:srgbClr val="10806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96735" y="5556349"/>
            <a:ext cx="55190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D6B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Primary, pre-specified endpoint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596735" y="5880199"/>
            <a:ext cx="5519023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889"/>
              </a:lnSpc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Overall survival, named in the protocol — not fished for.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8982521" y="6531620"/>
            <a:ext cx="8162479" cy="1041946"/>
          </a:xfrm>
          <a:prstGeom prst="roundRect">
            <a:avLst>
              <a:gd name="adj" fmla="val 10970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9696" y="6750695"/>
            <a:ext cx="12903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950" dirty="0">
                <a:solidFill>
                  <a:srgbClr val="B4530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!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463980" y="6750695"/>
            <a:ext cx="58286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8A400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But — is it clinically big?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463980" y="7074545"/>
            <a:ext cx="5828601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889"/>
              </a:lnSpc>
              <a:buNone/>
            </a:pPr>
            <a:r>
              <a:rPr lang="en-US" sz="1575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Reference the absolute difference &amp; NNT, not just the ratio.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B4530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WORKED EXAMPLE · JOURNAL CLUB · CASE-CONTROL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8384947" cy="652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600"/>
              </a:lnSpc>
              <a:buNone/>
            </a:pPr>
            <a:r>
              <a:rPr lang="en-US" sz="4350" i="1" kern="0" spc="-46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Appraising a case-control study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2309515"/>
            <a:ext cx="7420421" cy="6405860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71625" y="4452342"/>
            <a:ext cx="72194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CLAIM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571625" y="4861917"/>
            <a:ext cx="7219489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400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"The exposure was associated with the defect — odds ratio 3.2."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71625" y="5532388"/>
            <a:ext cx="6563171" cy="1040011"/>
          </a:xfrm>
          <a:prstGeom prst="roundRect">
            <a:avLst>
              <a:gd name="adj" fmla="val 9159"/>
            </a:avLst>
          </a:prstGeom>
          <a:solidFill>
            <a:srgbClr val="F6F6F4"/>
          </a:solidFill>
          <a:ln w="9525">
            <a:solidFill>
              <a:srgbClr val="EC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09750" y="5732413"/>
            <a:ext cx="628381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3A382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OR 3.2 · 95% CI 1.8–5.7 · 180 cases / 360 controls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82521" y="3369320"/>
            <a:ext cx="8162479" cy="971550"/>
          </a:xfrm>
          <a:prstGeom prst="roundRect">
            <a:avLst>
              <a:gd name="adj" fmla="val 11765"/>
            </a:avLst>
          </a:prstGeom>
          <a:solidFill>
            <a:srgbClr val="E6F4EF"/>
          </a:solidFill>
          <a:ln w="9525">
            <a:solidFill>
              <a:srgbClr val="10806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9696" y="3569345"/>
            <a:ext cx="2617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950" dirty="0">
                <a:solidFill>
                  <a:srgbClr val="10806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96735" y="3569345"/>
            <a:ext cx="61172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D6B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Controls from the same source population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96735" y="3874145"/>
            <a:ext cx="61172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clinics/registry as the cases — not a convenience sample.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82521" y="4474220"/>
            <a:ext cx="8162479" cy="971550"/>
          </a:xfrm>
          <a:prstGeom prst="roundRect">
            <a:avLst>
              <a:gd name="adj" fmla="val 11765"/>
            </a:avLst>
          </a:prstGeom>
          <a:solidFill>
            <a:srgbClr val="E6F4EF"/>
          </a:solidFill>
          <a:ln w="9525">
            <a:solidFill>
              <a:srgbClr val="10806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9696" y="4674245"/>
            <a:ext cx="2617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950" dirty="0">
                <a:solidFill>
                  <a:srgbClr val="10806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96735" y="4674245"/>
            <a:ext cx="56419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D6B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Effect is an odds ratio, and CI excludes 1.0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596735" y="4979045"/>
            <a:ext cx="56419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Case-control gives an OR — 1.8–5.7 is convincingly above 1.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82521" y="5579120"/>
            <a:ext cx="8162479" cy="971550"/>
          </a:xfrm>
          <a:prstGeom prst="roundRect">
            <a:avLst>
              <a:gd name="adj" fmla="val 11765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9696" y="5779145"/>
            <a:ext cx="12903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950" dirty="0">
                <a:solidFill>
                  <a:srgbClr val="B4530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!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463980" y="5779145"/>
            <a:ext cx="7815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400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Recall bias — the signature threat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63980" y="6083945"/>
            <a:ext cx="7815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Parents of affected babies may recall exposures more readily. How was it verified?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82521" y="6684020"/>
            <a:ext cx="8162479" cy="971550"/>
          </a:xfrm>
          <a:prstGeom prst="roundRect">
            <a:avLst>
              <a:gd name="adj" fmla="val 11765"/>
            </a:avLst>
          </a:prstGeom>
          <a:solidFill>
            <a:srgbClr val="FDF2E4"/>
          </a:solidFill>
          <a:ln w="9525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9696" y="6884045"/>
            <a:ext cx="12903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950" dirty="0">
                <a:solidFill>
                  <a:srgbClr val="B4530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!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463980" y="6884045"/>
            <a:ext cx="47926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400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Confounders adjusted?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463980" y="7188845"/>
            <a:ext cx="47926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92"/>
              </a:lnSpc>
              <a:buNone/>
            </a:pPr>
            <a:r>
              <a:rPr lang="en-US" sz="1500" dirty="0">
                <a:solidFill>
                  <a:srgbClr val="3A38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OR ≠ risk, and can't prove causation on its own.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500" b="1" kern="0" spc="210" dirty="0">
                <a:solidFill>
                  <a:srgbClr val="4F46E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PUTTING IT TO WORK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6883400" cy="147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25"/>
              </a:lnSpc>
              <a:buNone/>
            </a:pPr>
            <a:r>
              <a:rPr lang="en-US" sz="4350" i="1" kern="0" spc="-55" dirty="0">
                <a:solidFill>
                  <a:srgbClr val="17160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Three low-prep ways to use it in class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228380"/>
            <a:ext cx="5156150" cy="54869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14475" y="3618905"/>
            <a:ext cx="48545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i="1" dirty="0">
                <a:solidFill>
                  <a:srgbClr val="4F46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14475" y="4380905"/>
            <a:ext cx="48545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test-picking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14475" y="4819055"/>
            <a:ext cx="454559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Pose a scenario, run the wizard together, and debate each answer before the reveal.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6565850" y="3228380"/>
            <a:ext cx="5156150" cy="54869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37325" y="3618905"/>
            <a:ext cx="48545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i="1" dirty="0">
                <a:solidFill>
                  <a:srgbClr val="4F46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937325" y="4380905"/>
            <a:ext cx="48545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Journal-club backbone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37325" y="4819055"/>
            <a:ext cx="454559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 out the appraisal checklist; students grade the paper against it.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1988701" y="3228380"/>
            <a:ext cx="5156150" cy="54869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9525">
            <a:solidFill>
              <a:srgbClr val="ECEAE5"/>
            </a:solidFill>
            <a:prstDash val="solid"/>
          </a:ln>
          <a:effectLst>
            <a:outerShdw blurRad="19050" dist="9525" dir="5400000" algn="bl" rotWithShape="0">
              <a:srgbClr val="14120A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60176" y="3618905"/>
            <a:ext cx="48545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i="1" dirty="0">
                <a:solidFill>
                  <a:srgbClr val="4F46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360176" y="4380905"/>
            <a:ext cx="48545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716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homework calculator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60176" y="4819055"/>
            <a:ext cx="454559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6B6A6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SPSS licence needed — students compute and check their own answers.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143000" y="8963025"/>
            <a:ext cx="16002000" cy="9525"/>
          </a:xfrm>
          <a:prstGeom prst="rect">
            <a:avLst/>
          </a:prstGeom>
          <a:solidFill>
            <a:srgbClr val="ECE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9148763"/>
            <a:ext cx="2038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7968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Biostat Toolkit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390912" y="9124950"/>
            <a:ext cx="1754088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366F1">
                  <a:alpha val="20000"/>
                </a:srgbClr>
              </a:gs>
              <a:gs pos="60000">
                <a:srgbClr val="6366F1">
                  <a:alpha val="0"/>
                </a:srgbClr>
              </a:gs>
            </a:gsLst>
            <a:path path="circle">
              <a:fillToRect l="20000" t="100000" r="8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66675"/>
          </a:xfrm>
          <a:prstGeom prst="rect">
            <a:avLst/>
          </a:prstGeom>
          <a:solidFill>
            <a:srgbClr val="011F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8250" y="9277350"/>
            <a:ext cx="2906613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372600"/>
            <a:ext cx="2563713" cy="361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8250" y="2738438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571"/>
              </a:lnSpc>
              <a:buNone/>
            </a:pPr>
            <a:r>
              <a:rPr lang="en-US" sz="1650" b="1" kern="0" spc="264" dirty="0">
                <a:solidFill>
                  <a:srgbClr val="A5B4F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TRY IT BEFORE YOU LEAVE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238249" y="3233738"/>
            <a:ext cx="1092748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7500" i="1" kern="0" spc="-150" dirty="0">
                <a:solidFill>
                  <a:srgbClr val="F2F1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Open it, run the wizard once, then bring it to class</a:t>
            </a:r>
            <a:endParaRPr lang="en-US" sz="7500" dirty="0"/>
          </a:p>
        </p:txBody>
      </p:sp>
      <p:sp>
        <p:nvSpPr>
          <p:cNvPr id="8" name="Text 5"/>
          <p:cNvSpPr/>
          <p:nvPr/>
        </p:nvSpPr>
        <p:spPr>
          <a:xfrm>
            <a:off x="1238250" y="5424488"/>
            <a:ext cx="1092748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2250" dirty="0">
                <a:solidFill>
                  <a:srgbClr val="C9C7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Free, public, no account. Bookmark it and point students there whenever the question is "which test — and can I trust this paper?"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238250" y="6757988"/>
            <a:ext cx="7296150" cy="790575"/>
          </a:xfrm>
          <a:prstGeom prst="roundRect">
            <a:avLst>
              <a:gd name="adj" fmla="val 16867"/>
            </a:avLst>
          </a:prstGeom>
          <a:solidFill>
            <a:srgbClr val="F2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562100" y="7086600"/>
            <a:ext cx="133350" cy="13335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66900" y="6967538"/>
            <a:ext cx="65339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C0C0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statprof1234.github.io/Stats-Educator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4148346" y="3676650"/>
            <a:ext cx="2533650" cy="2533650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/>
          <a:effectLst>
            <a:outerShdw blurRad="285750" dist="952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19796" y="3848100"/>
            <a:ext cx="2190750" cy="2190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80740" y="6362700"/>
            <a:ext cx="35959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90" dirty="0">
                <a:solidFill>
                  <a:srgbClr val="9A988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Scan to open on your phone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366F1">
                  <a:alpha val="18000"/>
                </a:srgbClr>
              </a:gs>
              <a:gs pos="60000">
                <a:srgbClr val="6366F1">
                  <a:alpha val="0"/>
                </a:srgbClr>
              </a:gs>
            </a:gsLst>
            <a:path path="circle">
              <a:fillToRect l="82000" t="8000" r="18000" b="92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66675"/>
          </a:xfrm>
          <a:prstGeom prst="rect">
            <a:avLst/>
          </a:prstGeom>
          <a:solidFill>
            <a:srgbClr val="011F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8250" y="3038029"/>
            <a:ext cx="17392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571"/>
              </a:lnSpc>
              <a:buNone/>
            </a:pPr>
            <a:r>
              <a:rPr lang="en-US" sz="1650" b="1" kern="0" spc="264" dirty="0">
                <a:solidFill>
                  <a:srgbClr val="A5B4F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THANK YOU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38250" y="3533329"/>
            <a:ext cx="17392650" cy="1467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220"/>
              </a:lnSpc>
              <a:buNone/>
            </a:pPr>
            <a:r>
              <a:rPr lang="en-US" sz="11850" i="1" kern="0" spc="-237" dirty="0">
                <a:solidFill>
                  <a:srgbClr val="F2F1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Questions?</a:t>
            </a:r>
            <a:endParaRPr lang="en-US" sz="11850" dirty="0"/>
          </a:p>
        </p:txBody>
      </p:sp>
      <p:sp>
        <p:nvSpPr>
          <p:cNvPr id="6" name="Text 4"/>
          <p:cNvSpPr/>
          <p:nvPr/>
        </p:nvSpPr>
        <p:spPr>
          <a:xfrm>
            <a:off x="1238250" y="5286821"/>
            <a:ext cx="1053720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2250" dirty="0">
                <a:solidFill>
                  <a:srgbClr val="C9C7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Michael Glick · glickmi@upenn.edu Center for Integrative Global Oral Health, Penn Dental Medicine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238250" y="6525071"/>
            <a:ext cx="6768554" cy="723900"/>
          </a:xfrm>
          <a:prstGeom prst="roundRect">
            <a:avLst>
              <a:gd name="adj" fmla="val 18421"/>
            </a:avLst>
          </a:prstGeom>
          <a:solidFill>
            <a:srgbClr val="F2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24000" y="6825109"/>
            <a:ext cx="123825" cy="123825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00225" y="6715571"/>
            <a:ext cx="60984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C0C0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statprof1234.github.io/Stats-Educator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38250" y="9277350"/>
            <a:ext cx="2906613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372600"/>
            <a:ext cx="2563713" cy="361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3047</Words>
  <Application>Microsoft Office PowerPoint</Application>
  <PresentationFormat>Custom</PresentationFormat>
  <Paragraphs>397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Geist</vt:lpstr>
      <vt:lpstr>Geist Mono</vt:lpstr>
      <vt:lpstr>Instrument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Author</cp:lastModifiedBy>
  <cp:revision>3</cp:revision>
  <dcterms:created xsi:type="dcterms:W3CDTF">2026-07-24T12:22:42Z</dcterms:created>
  <dcterms:modified xsi:type="dcterms:W3CDTF">2026-07-24T14:57:21Z</dcterms:modified>
</cp:coreProperties>
</file>